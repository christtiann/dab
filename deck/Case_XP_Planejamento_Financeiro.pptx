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Hoje</c:v>
                </c:pt>
              </c:strCache>
            </c:strRef>
          </c:tx>
          <c:spPr>
            <a:solidFill>
              <a:srgbClr val="4A4A4A"/>
            </a:solidFill>
            <a:effectLst/>
          </c:spPr>
          <c:invertIfNegative val="0"/>
          <c:dLbls>
            <c:numFmt formatCode="#,##0&quot;k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A5A5A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Ações / ETF</c:v>
                  </c:pt>
                  <c:pt idx="1">
                    <c:v>Multimercado</c:v>
                  </c:pt>
                  <c:pt idx="2">
                    <c:v>RF tributada</c:v>
                  </c:pt>
                  <c:pt idx="3">
                    <c:v>Previdência (VGBL)</c:v>
                  </c:pt>
                  <c:pt idx="4">
                    <c:v>Isentos de IR</c:v>
                  </c:pt>
                  <c:pt idx="5">
                    <c:v>Liquidez / pós-fixado</c:v>
                  </c:pt>
                  <c:pt idx="6">
                    <c:v>Parado em conta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0</c:v>
                </c:pt>
                <c:pt idx="2">
                  <c:v>100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Proposto</c:v>
                </c:pt>
              </c:strCache>
            </c:strRef>
          </c:tx>
          <c:spPr>
            <a:solidFill>
              <a:srgbClr val="FFC709"/>
            </a:solidFill>
            <a:effectLst/>
          </c:spPr>
          <c:invertIfNegative val="0"/>
          <c:dLbls>
            <c:numFmt formatCode="#,##0&quot;k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A5A5A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Ações / ETF</c:v>
                  </c:pt>
                  <c:pt idx="1">
                    <c:v>Multimercado</c:v>
                  </c:pt>
                  <c:pt idx="2">
                    <c:v>RF tributada</c:v>
                  </c:pt>
                  <c:pt idx="3">
                    <c:v>Previdência (VGBL)</c:v>
                  </c:pt>
                  <c:pt idx="4">
                    <c:v>Isentos de IR</c:v>
                  </c:pt>
                  <c:pt idx="5">
                    <c:v>Liquidez / pós-fixado</c:v>
                  </c:pt>
                  <c:pt idx="6">
                    <c:v>Parado em conta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80</c:v>
                </c:pt>
                <c:pt idx="4">
                  <c:v>120</c:v>
                </c:pt>
                <c:pt idx="5">
                  <c:v>60</c:v>
                </c:pt>
                <c:pt idx="6">
                  <c:v>0</c:v>
                </c:pt>
              </c:numCache>
            </c:numRef>
          </c:val>
        </c:ser>
        <c:dLbls>
          <c:numFmt formatCode="#,##0&quot;k&quot;" sourceLinked="0"/>
          <c:txPr>
            <a:bodyPr/>
            <a:lstStyle/>
            <a:p>
              <a:pPr>
                <a:defRPr b="0" i="0" strike="noStrike" sz="950" u="none">
                  <a:solidFill>
                    <a:srgbClr val="A5A5A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0"/>
        </c:scaling>
        <c:delete val="0"/>
        <c:axPos val="b"/>
        <c:majorGridlines>
          <c:spPr>
            <a:ln w="12700" cap="flat">
              <a:solidFill>
                <a:srgbClr val="1F1F1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solidFill>
          <a:srgbClr val="000000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5A5A5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00000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é um prazer receber você. Entendemos que sua rotina como engenheiro é intensa e seu tempo é escasso. O objetivo de hoje é mostrar como a curadoria da XP pode organizar seus R$ 400 mil com segurança, eficiência fiscal e zero trabalho no seu dia a dia. São 30 minutos: diagnóstico, estrutura proposta e próximos passos.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Analisando seu momento: você construiu um patrimônio excelente de R$ 400 mil. Mas ele está partido ao meio de forma ineficiente. Metade parada na conta corrente rendendo zero, e metade concentrada em ações, R$ 100 mil, que representam 25% de tudo o que você tem. É por isso que a oscilação incomoda. Não é fragilidade sua, é dimensionamento. Vamos resolver os dois gargalos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Faço questão de começar por aqui. Você já foi nosso cliente assessorado e saiu, e isso é uma informação, não uma crítica. A dor que você descreve hoje, carteira sem plano definido, é o sintoma de um atendimento centrado em produto e não em objetivo. O que eu trago de diferente não é uma prateleira melhor: é método, custo na mesa antes da decisão e uma agenda de acompanhamento que existe independentemente de haver algo para vender.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eliminar a ansiedade com oscilação, dividimos o patrimônio em três caixas independentes. O dinheiro de emergência fica imune a mercado. O capital da sua filha fica protegido da inflação e blindado na sucessão. E só o dinheiro de longo prazo assume risco. Repare numa coisa importante: eu declaro a premissa. O briefing não me deu suas despesas, então assumi 70% da renda. Se esse número for outro, a Caixa 1 muda e o resto se ajusta.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Sua reserva sai da conta corrente e vai para CDB de liquidez diária com garantia do FGC. Rende todos os dias e resgata no mesmo dia pelo aplicativo. Note que eu não inventei o número: parti de uma estimativa de custo de vida e mostrei a conta. Se o seu gasto real for maior, a gente recalcula aqui mesmo. E essa caixa tem uma função silenciosa que é a mais importante de todas: ela impede que você precise vender um investimento de longo prazo num momento ruim.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futuro da sua filha, três camadas. VGBL para o aporte único, com alíquota caindo a 10% no longo prazo e transmissão direta para ela sem passar por inventário. LCI e LCA isentas de Imposto de Renda, com vencimentos casados com a escola e a faculdade. E aqui eu chamo sua atenção: eu incluí seguro de vida. Você tem 40 anos, renda única e uma filha dependente. Todo o plano que montamos pressupõe que você continue gerando R$ 12 mil por mês. O seguro é o que protege o plano contra a única hipótese que ele não sobrevive.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está a mudança mais importante. Sua exposição a ações cai de R$ 100 mil para R$ 40 mil, e sai de ação individual para ETF, com diversificação automática. A maior fatia vai para renda fixa levada ao vencimento, boa parte dela isenta de IR. E eu quero ser explícito sobre uma ausência: não tem COE aqui. COE é um produto legítimo, mas o custo de estruturação não fica visível no extrato. Como taxa é o seu ponto sensível, eu não vou te oferecer justamente o produto mais opaco da prateleira.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fotografia final, e repare que eu comparo tudo na mesma base: o patrimônio total de R$ 400 mil. Sua exposição a ações cai de 25% para 10%. O capital que está de fato rendendo sai de 50% para 100%. E surgem R$ 120 mil em ativos isentos de Imposto de Renda, que hoje são zero. Nenhum real fica 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dores que faltavam. Taxa: custódia zero, e o custo de cada produto na mesa antes da decisão, não depois. Tempo: o acompanhamento diário é nosso. Você recebe um resumo trimestral no app e me dá duas reuniões de 30 minutos por ano. E o rebalanceamento acontece direcionando seu aporte mensal, o que evita venda e evita antecipar imposto. Sua sobra de R$ 3.600 por mês já tem destino definido.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colocar o plano em prática, o primeiro passo é atualizar seu perfil de investidor, o que leva 10 minutos e dá para fazer agora. Chamo atenção para a etapa 3: a saída das ações é gradual, em parcelas de até R$ 20 mil por mês, porque vendas de ações até esse valor mensal são isentas de Imposto de Renda para pessoa física. Fazendo assim, a reestruturação inteira sai sem custo tributário. Posso abrir o aplicativo e começarmos?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Financeiro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97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6732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Estruturação consultiva para a proteção da sua família e o futuro da sua filha.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5010912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51755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R$ 400.000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54126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patrimônio total mapeado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51755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caixas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554126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alocação por objetivo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51755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554126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renda variável, na base total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869680" y="51755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0" y="554126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taxa de custódia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406640" y="13716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 de diagnóstico  ·  30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fotografia do seu momento financeiro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252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Patrimônio total de R$ 400.000 e dois gargalos a resolver.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1051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128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Idade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212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anos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96896"/>
            <a:ext cx="32918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797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Profissão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779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163824"/>
            <a:ext cx="32918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3467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civil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3467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Casado, 1 filha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30752"/>
            <a:ext cx="32918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13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mensal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39136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R$ 12.000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32918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480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declarado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4480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Moderado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864608"/>
            <a:ext cx="32918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80560" y="18288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R$ 200.000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23591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parados em conta corrente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2688336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 zero. Metade do seu patrimônio perde poder de compra todos os dias, enquanto a outra metade assume sozinha todo o risco.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80560" y="3364992"/>
            <a:ext cx="704088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80560" y="3520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R$ 100.000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4480560" y="405079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ações, 25% do patrimônio total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4480560" y="4379976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direta à bolsa acima do que um perfil moderado sustenta com conforto, ainda mais sem tempo para acompanhar o mercado.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554126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Suas dores, nas suas palavras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554126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“Carteira sem plano definido”      “A oscilação incomoda”      “Sempre reclamando das taxas”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40080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" y="64739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607040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Reconquista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já foi assessorado pela XP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252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muda desta vez. Antes de falar de produto, precisamos falar do que não funcionou.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8366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provavelmente faltou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88366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nosso compromisso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231136"/>
            <a:ext cx="10881360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41401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 montada sem tese e sem objetivo nomeado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41401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real com finalidade e prazo declarados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20040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oferecido sem o custo total na mesa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20040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total apresentado antes de cada alocação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803904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98678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Contato apenas quando havia algo para vender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9867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fixa: relatório trimestral e duas reuniões por ano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590288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77316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Volatilidade sem contexto, gerando ansiedade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77316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dimensionado por caixa, não pela carteira inteira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376672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5724144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Corrigir isso exige método, não uma prateleira diferente. É o método que estamos trazendo hoje.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40080" y="640080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64739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patrimônio dividido por objetivo, não por produto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252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caixas independentes, cada uma com prazo, risco e função próprios.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881360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Liquidez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529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R$ 60.000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381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do patrimônio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803904"/>
            <a:ext cx="32004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931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 prazo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22452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emergência com resgate no mesmo dia e volatilidade zero.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957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e futuro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28529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R$ 140.000</a:t>
            </a:r>
            <a:endParaRPr lang="en-US" sz="33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34381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do patrimônio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97680" y="3803904"/>
            <a:ext cx="32004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3931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Médio e longo prazo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422452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Educação da filha, eficiência fiscal e sucessão sem inventário.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239572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8529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R$ 200.000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4381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do patrimônio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55280" y="3803904"/>
            <a:ext cx="32004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55280" y="3931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Longo prazo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4224528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Rentabilidade real acima da inflação, com risco dimensionado.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394960"/>
            <a:ext cx="10881360" cy="841248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5394960"/>
            <a:ext cx="10332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 dos recursos. 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R$ 200.000 da conta corrente financiam as Caixas 1 e 2. Os R$ 200.000 já investidos são reestruturados na Caixa 3.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Premissa declarada. 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briefing não informa despesas, então assumimos custo de vida de R$ 8.400 por mês, 70% da renda.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40080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64739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607040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 01  ·  Curto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Liquidez imediata e reserva de emergência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252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primeiro dinheiro a sair da conta corrente e o único que nunca oscila.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R$ 60.000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066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do patrimônio total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37490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3467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chegamos ao valor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71246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de vida estimado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7124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R$ 8.400 / mês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224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alvo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4224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36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4736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R$ 50.400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2486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Arredondado para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52486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R$ 60.000, ou 7,1 meses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0" y="1920240"/>
            <a:ext cx="6492240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2066544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CDB de liquidez diária D+0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432304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Bancos de primeira linha na plataforma XP, faixa de 100% a 103% do CDI, com resgate no mesmo dia pelo aplicativo.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0" y="3182112"/>
            <a:ext cx="64922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0" y="3364992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Fundo DI com taxa zero de administração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3730752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Alternativa sem taxa de administração para a parcela de giro, com liquidez no mesmo dia útil.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0" y="4480560"/>
            <a:ext cx="64922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466344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do FGC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5029200"/>
            <a:ext cx="6492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R$ 250 mil por CPF por instituição, com teto global de R$ 1 milhão a cada quatro anos. Pulverizando em dois emissores, sua exposição fica muito abaixo do limite.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10881360" cy="420624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5815584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Volatilidade desta caixa: zero. Este dinheiro não participa de mercado. Ele existe para que você nunca precise resgatar as outras duas caixas num momento ruim.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640080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64739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 02  ·  Médio e longo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da família e o futuro da sua filha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252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R$ 140.000 alocados, mais a camada de proteção que faltava no seu planejamento.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881360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03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VGBL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237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R$ 80.000</a:t>
            </a:r>
            <a:endParaRPr lang="en-US" sz="3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0723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 único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438144"/>
            <a:ext cx="32004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584448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regressiva de IR, com alíquota de 10% a partir de dez anos e incidência apenas sobre o rendimento. Sucessão direta à sua filha, sem inventário e sem custo de partilha.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103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LCI e LCA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5237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R$ 60.000</a:t>
            </a:r>
            <a:endParaRPr lang="en-US" sz="31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0723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Isentos de IR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97680" y="3438144"/>
            <a:ext cx="32004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584448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Isenção total de Imposto de Renda para pessoa física e cobertura do FGC. Vencimentos escalonados e casados com os marcos escolares da sua filha. Carência mínima de nove meses.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2103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de vida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2374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R$ 720.000</a:t>
            </a:r>
            <a:endParaRPr lang="en-US" sz="31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0723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segurado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0" y="3438144"/>
            <a:ext cx="32004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3584448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vezes a sua renda anual, custeado pelo fluxo mensal e não pelo principal. Estimativa a partir de R$ 250 por mês, sujeita à análise de risco da seguradora.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138928"/>
            <a:ext cx="10881360" cy="1097280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53218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VGBL e não PGBL no aporte único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59612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dedução do PGBL é limitada a 12% da renda bruta tributável anual, o que dá R$ 17.280 no seu caso. Um aporte único de R$ 80 mil em PGBL desperdiçaria o benefício e ainda seria tributado sobre o valor total no resgate. Por isso: VGBL no aporte único, e PGBL como aporte mensal de R$ 1.440, exatamente dentro do teto, caso você declare no modelo completo.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40080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64739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 03  ·  Longo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com risco dimensionado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252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R$ 200.000 reestruturados a partir da carteira que você já tem hoje.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881360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03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1762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R$ 110.000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1396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fixa de carrego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48716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Tesouro IPCA+ e debêntures incentivadas pela Lei 12.431, isentas de IR para pessoa física. Levadas ao vencimento, com o prazo casado ao objetivo, a marcação a mercado deixa de ser um problema.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82112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32841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40156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R$ 50.000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3364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Multimercados de baixa volatilidade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712464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ativa da prateleira XP, com mandato de baixa volatilidade e alvo de retorno acima do CDI. Diversificação de estratégia sem exigir acompanhamento seu.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407408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5537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6268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R$ 40.000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459028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variável via ETFs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4937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BOVA11 e IVVB11 dão bolsa brasileira e mercado americano em duas ordens. Diversificação automática, sem escolher ação nem acompanhar notícia.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632704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724144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indicamos COE nesta carteira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98017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 estruturação de um COE não aparece destacado no extrato. Como transparência de taxas é justamente o seu ponto sensível, indicá-lo seria incoerente. A proteção de capital vem da renda fixa de carrego, onde cada custo é declarado.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640080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64739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0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e depois, na mesma base de comparação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252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percentuais se referem ao patrimônio total de R$ 400.000.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704088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53328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em R$ mil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863840" y="1874520"/>
            <a:ext cx="3657600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20299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a ações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2860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 →  10%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2651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R$ 100.000 para R$ 40.000, agora via ETF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63840" y="2944368"/>
            <a:ext cx="36576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30815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rendendo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337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 →  100%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37033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real parado em conta corrente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863840" y="3995928"/>
            <a:ext cx="36576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63840" y="41330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 isentos de IR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4389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  →  R$ 120.000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47548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LCI, LCA e debêntures incentivadas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863840" y="5047488"/>
            <a:ext cx="36576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0" y="5184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custódia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54406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58064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fixa, fundos e previdência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863840" y="6099048"/>
            <a:ext cx="365760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" y="640080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0080" y="64739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0607040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do serviço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transparente e tempo preservado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252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dores que sobraram: a reclamação com taxas e a falta de tempo para acompanhar.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881360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03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de custos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420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zero de custódia.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renda fixa, fundos e previdência na plataforma XP.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51206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3832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fixa.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remunera pelo spread do emissor, apresentado a você antes da alocação e não depois.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151376"/>
            <a:ext cx="51206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42245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Fundos e previdência.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taxa de administração na lâmina. Nenhum produto com custo embutido e não destacado.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992624"/>
            <a:ext cx="512064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506577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XP.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 rating e saúde financeira de cada emissor antes de ele entrar na sua carteira.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seu tempo, preservado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542032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diário.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feito pela nossa equipe. Você não precisa acompanhar notícia de mercado.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310128"/>
            <a:ext cx="521208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33832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trimestral.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consolidado e resumido no aplicativo da XP.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4151376"/>
            <a:ext cx="521208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422452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reuniões por ano.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30 minutos, para revisar metas familiares e reenquadrar o perfil.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4992624"/>
            <a:ext cx="521208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09360" y="5065776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Rebalanceamento por aporte.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por venda, evitando antecipar Imposto de Renda sem necessidade.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760720"/>
            <a:ext cx="10881360" cy="475488"/>
          </a:xfrm>
          <a:prstGeom prst="rect">
            <a:avLst/>
          </a:prstGeom>
          <a:solidFill>
            <a:srgbClr val="12121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576072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 de aporte mensal.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R$ 3.600, sendo R$ 1.440 no PGBL dentro do teto de 12%, cerca de R$ 250 no seguro de vida e R$ 1.910 para rebalanceamento.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40080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64739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ação imediato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25296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movimentos. O primeiro começa ainda nesta reunião.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881360" cy="0"/>
          </a:xfrm>
          <a:prstGeom prst="line">
            <a:avLst/>
          </a:prstGeom>
          <a:noFill/>
          <a:ln w="9525">
            <a:solidFill>
              <a:srgbClr val="4A4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3969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12140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13969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o seu suitability na conta XP e validar a proposta de alocação das três caixas.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1089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0906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semana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10896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os R$ 200.000 da conta corrente: R$ 60 mil na reserva em CDB D+0 e R$ 140 mil em VGBL, LCI e LCA.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877056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07822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0599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5 meses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4078224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Desmontar a posição em ações em parcelas de até R$ 20 mil por mês, aproveitando a isenção de IR sobre vendas de ações até esse limite mensal.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84632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504748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Contínuo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504748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 mensal de R$ 3.600, relatório trimestral no aplicativo e revisão semestral de 30 minutos.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815584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888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C7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o suitability leva 10 minutos. Seus R$ 200 mil param de perder para a inflação já no próximo dia útil.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0080" y="6400800"/>
            <a:ext cx="10881360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64739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XP Investimentos  ·  Planejamento Patrimonial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0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Financeiro Integrado</dc:title>
  <dc:subject>PptxGenJS Presentation</dc:subject>
  <dc:creator>Assessoria XP</dc:creator>
  <cp:lastModifiedBy>Assessoria XP</cp:lastModifiedBy>
  <cp:revision>1</cp:revision>
  <dcterms:created xsi:type="dcterms:W3CDTF">2026-09-20T22:52:29Z</dcterms:created>
  <dcterms:modified xsi:type="dcterms:W3CDTF">2026-09-20T22:52:29Z</dcterms:modified>
</cp:coreProperties>
</file>